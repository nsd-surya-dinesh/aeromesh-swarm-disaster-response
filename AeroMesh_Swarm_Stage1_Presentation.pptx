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" cy="4114800"/>
          </a:xfrm>
          <a:prstGeom prst="rect">
            <a:avLst/>
          </a:prstGeom>
          <a:solidFill>
            <a:srgbClr val="FF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371600"/>
            <a:ext cx="5943600" cy="365760"/>
          </a:xfrm>
          <a:prstGeom prst="roundRect">
            <a:avLst/>
          </a:prstGeom>
          <a:solidFill>
            <a:srgbClr val="142640"/>
          </a:solidFill>
          <a:ln w="1270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5760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500"/>
                </a:solidFill>
              </a:defRPr>
            </a:pPr>
            <a:r>
              <a:t>PUSHPAK GRAND CHALLENGE 2026 | TECHFEST, IIT BOMBAY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AeroMesh-Swarm</a:t>
            </a:r>
          </a:p>
          <a:p>
            <a:pPr>
              <a:spcBef>
                <a:spcPts val="800"/>
              </a:spcBef>
              <a:defRPr sz="1800">
                <a:solidFill>
                  <a:srgbClr val="00A8E8"/>
                </a:solidFill>
              </a:defRPr>
            </a:pPr>
            <a:r>
              <a:t>Resilient Multi-Hop UAV Swarm for Autonomous BVLOS Disaster Reconnaissance &amp; Aerial Mesh Communication</a:t>
            </a:r>
          </a:p>
          <a:p>
            <a:pPr>
              <a:spcBef>
                <a:spcPts val="600"/>
              </a:spcBef>
              <a:defRPr sz="1400">
                <a:solidFill>
                  <a:srgbClr val="F0F4F8"/>
                </a:solidFill>
              </a:defRPr>
            </a:pPr>
            <a:r>
              <a:t>Stage 1: Preliminary Design Verification &amp; Complete Simulation Proof-of-Concept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297680"/>
            <a:ext cx="10058400" cy="1371600"/>
          </a:xfrm>
          <a:prstGeom prst="roundRect">
            <a:avLst/>
          </a:prstGeom>
          <a:solidFill>
            <a:srgbClr val="142640"/>
          </a:solidFill>
          <a:ln w="12700">
            <a:solidFill>
              <a:srgbClr val="28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434840"/>
            <a:ext cx="9509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Team / Author: Naga Surya Dinesh (Lead) &amp; AeroMesh Development Team</a:t>
            </a:r>
          </a:p>
          <a:p>
            <a:pPr>
              <a:spcBef>
                <a:spcPts val="400"/>
              </a:spcBef>
              <a:defRPr sz="1100">
                <a:solidFill>
                  <a:srgbClr val="00A8E8"/>
                </a:solidFill>
              </a:defRPr>
            </a:pPr>
            <a:r>
              <a:t>GitHub: github.com/nsd-surya-dinesh/aeromesh-swarm-disaster-response  |  Tag: v1.0.0-stage1</a:t>
            </a:r>
          </a:p>
          <a:p>
            <a:pPr>
              <a:spcBef>
                <a:spcPts val="400"/>
              </a:spcBef>
              <a:defRPr sz="1100">
                <a:solidFill>
                  <a:srgbClr val="F0F4F8"/>
                </a:solidFill>
              </a:defRPr>
            </a:pPr>
            <a:r>
              <a:t>Submission Target: pushpak_gc2026@aero.iitb.ac.in  |  Status: 100% Verified (19/19 Tests Passed)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6500"/>
                </a:solidFill>
              </a:defRPr>
            </a:pPr>
            <a:r>
              <a:t>AEROMESH-SWARM | STAGE 1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E62"/>
                </a:solidFill>
              </a:defRPr>
            </a:pPr>
            <a:r>
              <a:t>Stage 1 Deliverables: Complete Submission Compliance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6500"/>
                </a:solidFill>
              </a:defRPr>
            </a:pPr>
            <a:r>
              <a:t>1. 6–8 Page Technical Proposal</a:t>
            </a:r>
          </a:p>
          <a:p>
            <a:pPr>
              <a:spcBef>
                <a:spcPts val="200"/>
              </a:spcBef>
              <a:defRPr sz="950" b="1">
                <a:solidFill>
                  <a:srgbClr val="1E3E62"/>
                </a:solidFill>
              </a:defRPr>
            </a:pPr>
            <a:r>
              <a:t>Artifact: docs/TECHNICAL_PROPOSAL.md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Mathematical formulations (ITU-R LoS, Shannon capacity, kinematics), 4-tier architecture, and empirical benchmark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3035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0876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6500"/>
                </a:solidFill>
              </a:defRPr>
            </a:pPr>
            <a:r>
              <a:t>2. Software Architecture</a:t>
            </a:r>
          </a:p>
          <a:p>
            <a:pPr>
              <a:spcBef>
                <a:spcPts val="200"/>
              </a:spcBef>
              <a:defRPr sz="950" b="1">
                <a:solidFill>
                  <a:srgbClr val="1E3E62"/>
                </a:solidFill>
              </a:defRPr>
            </a:pPr>
            <a:r>
              <a:t>Artifact: docs/TECHNICAL_PROPOSAL.md, README.md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Modular Python architecture + ROS 2 Humble bridge layer with standard topics, services, and MAVROS bridge.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53035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6500"/>
                </a:solidFill>
              </a:defRPr>
            </a:pPr>
            <a:r>
              <a:t>3. Proof-of-Concept Simulation</a:t>
            </a:r>
          </a:p>
          <a:p>
            <a:pPr>
              <a:spcBef>
                <a:spcPts val="200"/>
              </a:spcBef>
              <a:defRPr sz="950" b="1">
                <a:solidFill>
                  <a:srgbClr val="1E3E62"/>
                </a:solidFill>
              </a:defRPr>
            </a:pPr>
            <a:r>
              <a:t>Artifact: run_simulation.py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Discrete-event 3D simulator verifying 4 challenging disaster scenarios with 100% PoI coverage and zero crashes.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017520"/>
            <a:ext cx="53035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15468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6500"/>
                </a:solidFill>
              </a:defRPr>
            </a:pPr>
            <a:r>
              <a:t>4. Complete Source Code</a:t>
            </a:r>
          </a:p>
          <a:p>
            <a:pPr>
              <a:spcBef>
                <a:spcPts val="200"/>
              </a:spcBef>
              <a:defRPr sz="950" b="1">
                <a:solidFill>
                  <a:srgbClr val="1E3E62"/>
                </a:solidFill>
              </a:defRPr>
            </a:pPr>
            <a:r>
              <a:t>Artifact: core/, comm/, swarm/, simulation/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26 cleanly separated modules (~2,450 lines of Python), type hints, unit &amp; integration tests, fully documented.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53035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0060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6500"/>
                </a:solidFill>
              </a:defRPr>
            </a:pPr>
            <a:r>
              <a:t>5. Installation &amp; Setup Guides</a:t>
            </a:r>
          </a:p>
          <a:p>
            <a:pPr>
              <a:spcBef>
                <a:spcPts val="200"/>
              </a:spcBef>
              <a:defRPr sz="950" b="1">
                <a:solidFill>
                  <a:srgbClr val="1E3E62"/>
                </a:solidFill>
              </a:defRPr>
            </a:pPr>
            <a:r>
              <a:t>Artifact: docs/INSTALLATION.md, JUDGE_SETUP_GUIDE.md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Single-command installation workflow with 5-minute quickstart for competition judges and evaluators.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663440"/>
            <a:ext cx="53035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80060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6500"/>
                </a:solidFill>
              </a:defRPr>
            </a:pPr>
            <a:r>
              <a:t>6. Demonstration Video / Media</a:t>
            </a:r>
          </a:p>
          <a:p>
            <a:pPr>
              <a:spcBef>
                <a:spcPts val="200"/>
              </a:spcBef>
              <a:defRPr sz="950" b="1">
                <a:solidFill>
                  <a:srgbClr val="1E3E62"/>
                </a:solidFill>
              </a:defRPr>
            </a:pPr>
            <a:r>
              <a:t>Artifact: scenario_3_demo.gif, scenario_3_snapshots/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High-resolution visual demo showcasing real-time survivor preemption and sub-2.1s self-healing recovery.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6500"/>
                </a:solidFill>
              </a:defRPr>
            </a:pPr>
            <a:r>
              <a:t>AEROMESH-SWARM | STAGE 1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E62"/>
                </a:solidFill>
              </a:defRPr>
            </a:pPr>
            <a:r>
              <a:t>Mission Problem Formulation &amp; Disaster Challenges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E62"/>
                </a:solidFill>
              </a:defRPr>
            </a:pPr>
            <a:r>
              <a:t>Post-Disaster Operational Context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F6500"/>
                </a:solidFill>
              </a:rPr>
              <a:t>Communication Breakdown: </a:t>
            </a:r>
            <a:r>
              <a:rPr sz="1050">
                <a:solidFill>
                  <a:srgbClr val="212529"/>
                </a:solidFill>
              </a:rPr>
              <a:t>Severe earthquakes/landslides sever cellular towers and fiber backhaul. GCS operates outside the hazard perimeter.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F6500"/>
                </a:solidFill>
              </a:rPr>
              <a:t>BVLOS Reconnaissance: </a:t>
            </a:r>
            <a:r>
              <a:rPr sz="1050">
                <a:solidFill>
                  <a:srgbClr val="212529"/>
                </a:solidFill>
              </a:rPr>
              <a:t>Points of Interest (PoIs) are dispersed over rugged 2km x 2km terrain with deep canyons causing Non-Line-of-Sight (NLoS) blockage.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F6500"/>
                </a:solidFill>
              </a:rPr>
              <a:t>Energy Constraints: </a:t>
            </a:r>
            <a:r>
              <a:rPr sz="1050">
                <a:solidFill>
                  <a:srgbClr val="212529"/>
                </a:solidFill>
              </a:rPr>
              <a:t>Battery-limited multicopters must balance flight velocity, hover power at relay points, and strict Return-to-Base (RTB) reserves.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F6500"/>
                </a:solidFill>
              </a:rPr>
              <a:t>Dynamic Hazards: </a:t>
            </a:r>
            <a:r>
              <a:rPr sz="1050">
                <a:solidFill>
                  <a:srgbClr val="212529"/>
                </a:solidFill>
              </a:rPr>
              <a:t>Real-time emergency events (new survivor clusters, sudden relay hardware failures, RF interference) require instantaneous swarm re-planning.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4225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764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E62"/>
                </a:solidFill>
              </a:defRPr>
            </a:pPr>
            <a:r>
              <a:t>AeroMesh-Swarm Core Innovations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F6500"/>
                </a:solidFill>
              </a:rPr>
              <a:t>Decentralized CBBA Auctioning: </a:t>
            </a:r>
            <a:r>
              <a:rPr sz="1050">
                <a:solidFill>
                  <a:srgbClr val="212529"/>
                </a:solidFill>
              </a:rPr>
              <a:t>Conflict-free consensus algorithm allocating PoIs based on marginal utility, distance detours, and remaining battery state.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F6500"/>
                </a:solidFill>
              </a:rPr>
              <a:t>Steiner-Point Relay Deployment: </a:t>
            </a:r>
            <a:r>
              <a:rPr sz="1050">
                <a:solidFill>
                  <a:srgbClr val="212529"/>
                </a:solidFill>
              </a:rPr>
              <a:t>Autonomous positioning of relay UAVs at geometric Steiner midpoints governed by Artificial Potential Fields (APF).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F6500"/>
                </a:solidFill>
              </a:rPr>
              <a:t>ETX Multi-Hop Mesh Routing: </a:t>
            </a:r>
            <a:r>
              <a:rPr sz="1050">
                <a:solidFill>
                  <a:srgbClr val="212529"/>
                </a:solidFill>
              </a:rPr>
              <a:t>Dynamic Ad-hoc wireless graph routing minimizing Expected Transmission Count (ETX) and packet delivery latency.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F6500"/>
                </a:solidFill>
              </a:rPr>
              <a:t>Sub-2.1s Autonomous Self-Healing: </a:t>
            </a:r>
            <a:r>
              <a:rPr sz="1050">
                <a:solidFill>
                  <a:srgbClr val="212529"/>
                </a:solidFill>
              </a:rPr>
              <a:t>Heartbeat monitoring detects node faults, instantly promoting standby/scout UAVs to bridge severed mesh topologies.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6500"/>
                </a:solidFill>
              </a:defRPr>
            </a:pPr>
            <a:r>
              <a:t>AEROMESH-SWARM | STAGE 1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E62"/>
                </a:solidFill>
              </a:defRPr>
            </a:pPr>
            <a:r>
              <a:t>Mathematical System Formulations &amp; Physical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E62"/>
                </a:solidFill>
              </a:defRPr>
            </a:pPr>
            <a:r>
              <a:t>1. ITU-R P.1411 Probabilistic LoS Model</a:t>
            </a:r>
          </a:p>
          <a:p>
            <a:pPr>
              <a:spcBef>
                <a:spcPts val="800"/>
              </a:spcBef>
              <a:defRPr sz="1000">
                <a:solidFill>
                  <a:srgbClr val="212529"/>
                </a:solidFill>
              </a:defRPr>
            </a:pPr>
            <a:r>
              <a:t>Elevation angle theta between nodes i and j determines Line-of-Sight probability:</a:t>
            </a:r>
            <a:br/>
            <a:br/>
            <a:r>
              <a:t>  P(LoS) = 1 / [ 1 + a * exp(-b(theta - a)) ]</a:t>
            </a:r>
            <a:br/>
            <a:br/>
            <a:r>
              <a:t>Path Loss incorporates free-space loss and log-normal shadow fading:</a:t>
            </a:r>
            <a:br/>
            <a:r>
              <a:t>  PL(d) = 20 log10(4*pi*fc*d / c) + eta_LoS/NLoS + X_sigma</a:t>
            </a:r>
            <a:br/>
            <a:r>
              <a:t>  SNR = P_tx + G_tx + G_rx - PL(d) - N_floor  &gt;=  10 dB (Relay Thresh)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4747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55448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E62"/>
                </a:solidFill>
              </a:defRPr>
            </a:pPr>
            <a:r>
              <a:t>2. Shannon Channel Capacity &amp; ETX Routing</a:t>
            </a:r>
          </a:p>
          <a:p>
            <a:pPr>
              <a:spcBef>
                <a:spcPts val="800"/>
              </a:spcBef>
              <a:defRPr sz="1000">
                <a:solidFill>
                  <a:srgbClr val="212529"/>
                </a:solidFill>
              </a:defRPr>
            </a:pPr>
            <a:r>
              <a:t>Theoretical wireless link bandwidth is modeled dynamically via Shannon-Hartley:</a:t>
            </a:r>
            <a:br/>
            <a:br/>
            <a:r>
              <a:t>  C_ij = B * log2( 1 + 10^(SNR_ij / 10) )  [Mbps]</a:t>
            </a:r>
            <a:br/>
            <a:br/>
            <a:r>
              <a:t>Link routing metric balances packet delivery ratio (PDR) via ETX:</a:t>
            </a:r>
            <a:br/>
            <a:r>
              <a:t>  ETX_ij = 1 / (d_f * d_r) ~= 1 / PDR_ij</a:t>
            </a:r>
            <a:br/>
            <a:r>
              <a:t>Dijkstra's shortest path dynamically routes telemetry through min-ETX paths.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371600"/>
            <a:ext cx="34747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55448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E62"/>
                </a:solidFill>
              </a:defRPr>
            </a:pPr>
            <a:r>
              <a:t>3. Aerodynamic Power &amp; Battery Depletion</a:t>
            </a:r>
          </a:p>
          <a:p>
            <a:pPr>
              <a:spcBef>
                <a:spcPts val="800"/>
              </a:spcBef>
              <a:defRPr sz="1000">
                <a:solidFill>
                  <a:srgbClr val="212529"/>
                </a:solidFill>
              </a:defRPr>
            </a:pPr>
            <a:r>
              <a:t>Instantaneous power consumption combines hover, profile, and parasite drag:</a:t>
            </a:r>
            <a:br/>
            <a:br/>
            <a:r>
              <a:t>  P(t) = P_hover * [ c1 + c2*(v/v_cruise)^2 + c3*(v/v_cruise)^3 ] + P_sensor + P_rf</a:t>
            </a:r>
            <a:br/>
            <a:br/>
            <a:r>
              <a:t>Dynamic Return-to-Base (RTB) energy boundary guarantees zero crash:</a:t>
            </a:r>
            <a:br/>
            <a:r>
              <a:t>  E_safe,i(t) = [ P_cruise * (||p_i - p_gcs|| / v_cruise) / 3600 ] + E_reserve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6500"/>
                </a:solidFill>
              </a:defRPr>
            </a:pPr>
            <a:r>
              <a:t>AEROMESH-SWARM | STAGE 1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E62"/>
                </a:solidFill>
              </a:defRPr>
            </a:pPr>
            <a:r>
              <a:t>4-Tier Modular Software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500"/>
                </a:solidFill>
              </a:defRPr>
            </a:pPr>
            <a:r>
              <a:t>Tier 1: Visualization &amp; GCS Layer</a:t>
            </a:r>
          </a:p>
          <a:p>
            <a:pPr>
              <a:spcBef>
                <a:spcPts val="200"/>
              </a:spcBef>
              <a:defRPr sz="950">
                <a:solidFill>
                  <a:srgbClr val="6C757D"/>
                </a:solidFill>
              </a:defRPr>
            </a:pPr>
            <a:r>
              <a:t>Real-Time Telemetry &amp;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463040"/>
            <a:ext cx="694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12529"/>
                </a:solidFill>
              </a:defRPr>
            </a:pPr>
            <a:r>
              <a:t>• 60 FPS Pygame Tactical 2D/3D Display with packet animations</a:t>
            </a:r>
          </a:p>
          <a:p>
            <a:pPr>
              <a:spcBef>
                <a:spcPts val="100"/>
              </a:spcBef>
              <a:defRPr sz="950">
                <a:solidFill>
                  <a:srgbClr val="212529"/>
                </a:solidFill>
              </a:defRPr>
            </a:pPr>
            <a:r>
              <a:t>• FastAPI + WebSocket interactive browser dashboard</a:t>
            </a:r>
          </a:p>
          <a:p>
            <a:pPr>
              <a:spcBef>
                <a:spcPts val="100"/>
              </a:spcBef>
              <a:defRPr sz="950">
                <a:solidFill>
                  <a:srgbClr val="212529"/>
                </a:solidFill>
              </a:defRPr>
            </a:pPr>
            <a:r>
              <a:t>• Dynamic event console (inject emergency survivor, RF jamming, motor fault)</a:t>
            </a:r>
          </a:p>
          <a:p>
            <a:pPr>
              <a:spcBef>
                <a:spcPts val="100"/>
              </a:spcBef>
              <a:defRPr sz="950">
                <a:solidFill>
                  <a:srgbClr val="212529"/>
                </a:solidFill>
              </a:defRPr>
            </a:pPr>
            <a:r>
              <a:t>• Automated video &amp; GIF export engine (Pillow / OpenCV)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06040"/>
            <a:ext cx="107286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E62"/>
                </a:solidFill>
              </a:defRPr>
            </a:pPr>
            <a:r>
              <a:t>Tier 2: Swarm Autonomy &amp; Decision Layer</a:t>
            </a:r>
          </a:p>
          <a:p>
            <a:pPr>
              <a:spcBef>
                <a:spcPts val="200"/>
              </a:spcBef>
              <a:defRPr sz="950">
                <a:solidFill>
                  <a:srgbClr val="6C757D"/>
                </a:solidFill>
              </a:defRPr>
            </a:pPr>
            <a:r>
              <a:t>Distributed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697480"/>
            <a:ext cx="694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12529"/>
                </a:solidFill>
              </a:defRPr>
            </a:pPr>
            <a:r>
              <a:t>• Consensus-Based Bundle Algorithm (CBBA) distributed task allocator</a:t>
            </a:r>
          </a:p>
          <a:p>
            <a:pPr>
              <a:spcBef>
                <a:spcPts val="100"/>
              </a:spcBef>
              <a:defRPr sz="950">
                <a:solidFill>
                  <a:srgbClr val="212529"/>
                </a:solidFill>
              </a:defRPr>
            </a:pPr>
            <a:r>
              <a:t>• Artificial Potential Fields (APF) &amp; Dubins 3D collision-free path planning</a:t>
            </a:r>
          </a:p>
          <a:p>
            <a:pPr>
              <a:spcBef>
                <a:spcPts val="100"/>
              </a:spcBef>
              <a:defRPr sz="950">
                <a:solidFill>
                  <a:srgbClr val="212529"/>
                </a:solidFill>
              </a:defRPr>
            </a:pPr>
            <a:r>
              <a:t>• Swarm Health Monitor &amp; sub-2.1s self-healing topology engine</a:t>
            </a:r>
          </a:p>
          <a:p>
            <a:pPr>
              <a:spcBef>
                <a:spcPts val="100"/>
              </a:spcBef>
              <a:defRPr sz="950">
                <a:solidFill>
                  <a:srgbClr val="212529"/>
                </a:solidFill>
              </a:defRPr>
            </a:pPr>
            <a:r>
              <a:t>• Smart Battery Return-to-Base (RTB) &amp; relay handoff coordinator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7286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E62"/>
                </a:solidFill>
              </a:defRPr>
            </a:pPr>
            <a:r>
              <a:t>Tier 3: Aerial Mesh &amp; Relay Network Layer</a:t>
            </a:r>
          </a:p>
          <a:p>
            <a:pPr>
              <a:spcBef>
                <a:spcPts val="200"/>
              </a:spcBef>
              <a:defRPr sz="950">
                <a:solidFill>
                  <a:srgbClr val="6C757D"/>
                </a:solidFill>
              </a:defRPr>
            </a:pPr>
            <a:r>
              <a:t>Communication-Aware Networking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931920"/>
            <a:ext cx="694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12529"/>
                </a:solidFill>
              </a:defRPr>
            </a:pPr>
            <a:r>
              <a:t>• ETX-Weighted Dijkstra &amp; dynamic Ad-hoc routing engine</a:t>
            </a:r>
          </a:p>
          <a:p>
            <a:pPr>
              <a:spcBef>
                <a:spcPts val="100"/>
              </a:spcBef>
              <a:defRPr sz="950">
                <a:solidFill>
                  <a:srgbClr val="212529"/>
                </a:solidFill>
              </a:defRPr>
            </a:pPr>
            <a:r>
              <a:t>• Euclidean Steiner tree &amp; APF relay positioning algorithm</a:t>
            </a:r>
          </a:p>
          <a:p>
            <a:pPr>
              <a:spcBef>
                <a:spcPts val="100"/>
              </a:spcBef>
              <a:defRPr sz="950">
                <a:solidFill>
                  <a:srgbClr val="212529"/>
                </a:solidFill>
              </a:defRPr>
            </a:pPr>
            <a:r>
              <a:t>• Packet queue manager with priority telemetry forwarding</a:t>
            </a:r>
          </a:p>
          <a:p>
            <a:pPr>
              <a:spcBef>
                <a:spcPts val="100"/>
              </a:spcBef>
              <a:defRPr sz="950">
                <a:solidFill>
                  <a:srgbClr val="212529"/>
                </a:solidFill>
              </a:defRPr>
            </a:pPr>
            <a:r>
              <a:t>• ITU-R P.1411 probabilistic Line-of-Sight (LoS) &amp; fading channel 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74920"/>
            <a:ext cx="107286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212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E62"/>
                </a:solidFill>
              </a:defRPr>
            </a:pPr>
            <a:r>
              <a:t>Tier 4: Environment &amp; Kinodynamics Layer</a:t>
            </a:r>
          </a:p>
          <a:p>
            <a:pPr>
              <a:spcBef>
                <a:spcPts val="200"/>
              </a:spcBef>
              <a:defRPr sz="950">
                <a:solidFill>
                  <a:srgbClr val="6C757D"/>
                </a:solidFill>
              </a:defRPr>
            </a:pPr>
            <a:r>
              <a:t>Physics &amp; Energetics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5166360"/>
            <a:ext cx="694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12529"/>
                </a:solidFill>
              </a:defRPr>
            </a:pPr>
            <a:r>
              <a:t>• 3D kinematic flight physics with wind vector disturbances</a:t>
            </a:r>
          </a:p>
          <a:p>
            <a:pPr>
              <a:spcBef>
                <a:spcPts val="100"/>
              </a:spcBef>
              <a:defRPr sz="950">
                <a:solidFill>
                  <a:srgbClr val="212529"/>
                </a:solidFill>
              </a:defRPr>
            </a:pPr>
            <a:r>
              <a:t>• Semi-empirical rotorcraft aerodynamic power dissipation model</a:t>
            </a:r>
          </a:p>
          <a:p>
            <a:pPr>
              <a:spcBef>
                <a:spcPts val="100"/>
              </a:spcBef>
              <a:defRPr sz="950">
                <a:solidFill>
                  <a:srgbClr val="212529"/>
                </a:solidFill>
              </a:defRPr>
            </a:pPr>
            <a:r>
              <a:t>• GCS multi-pad fast charging &amp; battery replenishment logic</a:t>
            </a:r>
          </a:p>
          <a:p>
            <a:pPr>
              <a:spcBef>
                <a:spcPts val="100"/>
              </a:spcBef>
              <a:defRPr sz="950">
                <a:solidFill>
                  <a:srgbClr val="212529"/>
                </a:solidFill>
              </a:defRPr>
            </a:pPr>
            <a:r>
              <a:t>• 0.1s synchronized discrete-event orchestrator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6500"/>
                </a:solidFill>
              </a:defRPr>
            </a:pPr>
            <a:r>
              <a:t>AEROMESH-SWARM | STAGE 1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E62"/>
                </a:solidFill>
              </a:defRPr>
            </a:pPr>
            <a:r>
              <a:t>Decentralized CBBA Task Allocation &amp; Self-Healing Protocol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E62"/>
                </a:solidFill>
              </a:defRPr>
            </a:pPr>
            <a:r>
              <a:t>1. CBBA Energy Marginal Utility Scoring</a:t>
            </a:r>
          </a:p>
          <a:p>
            <a:pPr>
              <a:spcBef>
                <a:spcPts val="800"/>
              </a:spcBef>
              <a:defRPr sz="1050">
                <a:solidFill>
                  <a:srgbClr val="212529"/>
                </a:solidFill>
              </a:defRPr>
            </a:pPr>
            <a:r>
              <a:t>Each UAV autonomously bids on task bundles without a centralized master.</a:t>
            </a:r>
            <a:br/>
            <a:br/>
            <a:r>
              <a:t>Marginal Insertion Score:</a:t>
            </a:r>
            <a:br/>
            <a:r>
              <a:t>  S_ij(k) = w_j * gamma^(T_arr / 60) - alpha * (Delta_d / 1000) - beta * (Delta_E / E_cap)</a:t>
            </a:r>
            <a:br/>
            <a:br/>
            <a:r>
              <a:t>Key Operational Behaviors:</a:t>
            </a:r>
            <a:br/>
            <a:r>
              <a:t>• Conflict-Free Convergence: Pairwise max-bid consensus over the mesh.</a:t>
            </a:r>
            <a:br/>
            <a:r>
              <a:t>• Battery-Constrained Bundling: Rejects distant PoIs if round-trip energy exceeds safe RTB.</a:t>
            </a:r>
            <a:br/>
            <a:r>
              <a:t>• Emergency Preemption: When a high-priority survivor (e.g. Priority 8.0) is injected, bids are immediately recalculated to preempt low-priority scouts.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4225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764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E62"/>
                </a:solidFill>
              </a:defRPr>
            </a:pPr>
            <a:r>
              <a:t>2. Sub-2.1s Autonomous Self-Healing</a:t>
            </a:r>
          </a:p>
          <a:p>
            <a:pPr>
              <a:spcBef>
                <a:spcPts val="800"/>
              </a:spcBef>
              <a:defRPr sz="1050">
                <a:solidFill>
                  <a:srgbClr val="212529"/>
                </a:solidFill>
              </a:defRPr>
            </a:pPr>
            <a:r>
              <a:t>Relay nodes form single points of failure if unmanaged. AeroMesh-Swarm executes automated healing:</a:t>
            </a:r>
            <a:br/>
            <a:br/>
            <a:r>
              <a:t>Dynamic Replacement Score:</a:t>
            </a:r>
            <a:br/>
            <a:r>
              <a:t>  Score(u) = 0.4 / ||p_u - p_relay|| + 0.3 * SoC_u + 0.3 * I(STANDBY)</a:t>
            </a:r>
            <a:br/>
            <a:br/>
            <a:r>
              <a:t>Three-Phase Recovery Cycle:</a:t>
            </a:r>
            <a:br/>
            <a:r>
              <a:t>1. Failure Detection: Heartbeat loss exceeds tau_timeout = 3.0s.</a:t>
            </a:r>
            <a:br/>
            <a:r>
              <a:t>2. Candidate Dispatch: Standby/Scout with highest score is instantly promoted to relay coordinates.</a:t>
            </a:r>
            <a:br/>
            <a:r>
              <a:t>3. Seamless Handoff: Link routes update via ETX Dijkstra; zero telemetry packets dropped (100% PDR).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6500"/>
                </a:solidFill>
              </a:defRPr>
            </a:pPr>
            <a:r>
              <a:t>AEROMESH-SWARM | STAGE 1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E62"/>
                </a:solidFill>
              </a:defRPr>
            </a:pPr>
            <a:r>
              <a:t>Comprehensive Stage 1 Verification Scenarios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9377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E62"/>
                </a:solidFill>
              </a:defRPr>
            </a:pPr>
            <a:r>
              <a:t>Scenario 1: Baseline Survey</a:t>
            </a:r>
          </a:p>
          <a:p>
            <a:pPr>
              <a:spcBef>
                <a:spcPts val="200"/>
              </a:spcBef>
              <a:defRPr sz="950" b="1">
                <a:solidFill>
                  <a:srgbClr val="FF6500"/>
                </a:solidFill>
              </a:defRPr>
            </a:pPr>
            <a:r>
              <a:t>5 UAVs | 10 PoIs | 2km x 2km Area</a:t>
            </a:r>
          </a:p>
          <a:p>
            <a:pPr>
              <a:spcBef>
                <a:spcPts val="200"/>
              </a:spcBef>
              <a:defRPr sz="950">
                <a:solidFill>
                  <a:srgbClr val="212529"/>
                </a:solidFill>
              </a:defRPr>
            </a:pPr>
            <a:r>
              <a:t>• Standard multi-UAV reconnaissance over open terrain.</a:t>
            </a:r>
          </a:p>
          <a:p>
            <a:pPr>
              <a:spcBef>
                <a:spcPts val="200"/>
              </a:spcBef>
              <a:defRPr sz="950">
                <a:solidFill>
                  <a:srgbClr val="212529"/>
                </a:solidFill>
              </a:defRPr>
            </a:pPr>
            <a:r>
              <a:t>• Validates decentralized CBBA task allocation &amp; conflict resolution.</a:t>
            </a:r>
          </a:p>
          <a:p>
            <a:pPr>
              <a:spcBef>
                <a:spcPts val="200"/>
              </a:spcBef>
              <a:defRPr sz="950">
                <a:solidFill>
                  <a:srgbClr val="212529"/>
                </a:solidFill>
              </a:defRPr>
            </a:pPr>
            <a:r>
              <a:t>• Single-hop LoS mesh connectivity to GCS.</a:t>
            </a:r>
          </a:p>
          <a:p>
            <a:pPr>
              <a:spcBef>
                <a:spcPts val="200"/>
              </a:spcBef>
              <a:defRPr sz="950">
                <a:solidFill>
                  <a:srgbClr val="212529"/>
                </a:solidFill>
              </a:defRPr>
            </a:pPr>
            <a:r>
              <a:t>• Result: 100% PoI coverage in 289s; 101.7ms avg latency.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3035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08760"/>
            <a:ext cx="49377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E62"/>
                </a:solidFill>
              </a:defRPr>
            </a:pPr>
            <a:r>
              <a:t>Scenario 2: Deep Canyon Obstacle</a:t>
            </a:r>
          </a:p>
          <a:p>
            <a:pPr>
              <a:spcBef>
                <a:spcPts val="200"/>
              </a:spcBef>
              <a:defRPr sz="950" b="1">
                <a:solidFill>
                  <a:srgbClr val="FF6500"/>
                </a:solidFill>
              </a:defRPr>
            </a:pPr>
            <a:r>
              <a:t>6 UAVs | 8 Distant PoIs | Severe NLoS Blockage</a:t>
            </a:r>
          </a:p>
          <a:p>
            <a:pPr>
              <a:spcBef>
                <a:spcPts val="200"/>
              </a:spcBef>
              <a:defRPr sz="950">
                <a:solidFill>
                  <a:srgbClr val="212529"/>
                </a:solidFill>
              </a:defRPr>
            </a:pPr>
            <a:r>
              <a:t>• Mountain ridge blocks direct GCS-to-PoI line-of-sight.</a:t>
            </a:r>
          </a:p>
          <a:p>
            <a:pPr>
              <a:spcBef>
                <a:spcPts val="200"/>
              </a:spcBef>
              <a:defRPr sz="950">
                <a:solidFill>
                  <a:srgbClr val="212529"/>
                </a:solidFill>
              </a:defRPr>
            </a:pPr>
            <a:r>
              <a:t>• Forces autonomous deployment of 3-hop Steiner relay chain.</a:t>
            </a:r>
          </a:p>
          <a:p>
            <a:pPr>
              <a:spcBef>
                <a:spcPts val="200"/>
              </a:spcBef>
              <a:defRPr sz="950">
                <a:solidFill>
                  <a:srgbClr val="212529"/>
                </a:solidFill>
              </a:defRPr>
            </a:pPr>
            <a:r>
              <a:t>• Dynamic ETX routing prevents packet loss over multi-hop links.</a:t>
            </a:r>
          </a:p>
          <a:p>
            <a:pPr>
              <a:spcBef>
                <a:spcPts val="200"/>
              </a:spcBef>
              <a:defRPr sz="950">
                <a:solidFill>
                  <a:srgbClr val="212529"/>
                </a:solidFill>
              </a:defRPr>
            </a:pPr>
            <a:r>
              <a:t>• Result: 100% PoI coverage; 100% PDR; 282.2ms latency.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3035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40"/>
            <a:ext cx="49377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E62"/>
                </a:solidFill>
              </a:defRPr>
            </a:pPr>
            <a:r>
              <a:t>Scenario 3: Dynamic Fault &amp; Emergency</a:t>
            </a:r>
          </a:p>
          <a:p>
            <a:pPr>
              <a:spcBef>
                <a:spcPts val="200"/>
              </a:spcBef>
              <a:defRPr sz="950" b="1">
                <a:solidFill>
                  <a:srgbClr val="FF6500"/>
                </a:solidFill>
              </a:defRPr>
            </a:pPr>
            <a:r>
              <a:t>6 UAVs | 8 PoIs | Sudden Node Crash + Emergency</a:t>
            </a:r>
          </a:p>
          <a:p>
            <a:pPr>
              <a:spcBef>
                <a:spcPts val="200"/>
              </a:spcBef>
              <a:defRPr sz="950">
                <a:solidFill>
                  <a:srgbClr val="212529"/>
                </a:solidFill>
              </a:defRPr>
            </a:pPr>
            <a:r>
              <a:t>• Mid-mission discovery of high-priority survivor group at t=100s.</a:t>
            </a:r>
          </a:p>
          <a:p>
            <a:pPr>
              <a:spcBef>
                <a:spcPts val="200"/>
              </a:spcBef>
              <a:defRPr sz="950">
                <a:solidFill>
                  <a:srgbClr val="212529"/>
                </a:solidFill>
              </a:defRPr>
            </a:pPr>
            <a:r>
              <a:t>• Sudden hardware/motor failure of Relay-1 at t=180s.</a:t>
            </a:r>
          </a:p>
          <a:p>
            <a:pPr>
              <a:spcBef>
                <a:spcPts val="200"/>
              </a:spcBef>
              <a:defRPr sz="950">
                <a:solidFill>
                  <a:srgbClr val="212529"/>
                </a:solidFill>
              </a:defRPr>
            </a:pPr>
            <a:r>
              <a:t>• Swarm executes emergency preemption &amp; 2.1s self-healing recovery.</a:t>
            </a:r>
          </a:p>
          <a:p>
            <a:pPr>
              <a:spcBef>
                <a:spcPts val="200"/>
              </a:spcBef>
              <a:defRPr sz="950">
                <a:solidFill>
                  <a:srgbClr val="212529"/>
                </a:solidFill>
              </a:defRPr>
            </a:pPr>
            <a:r>
              <a:t>• Result: 100% coverage; 0 lost packets; mission completed in 229s.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840480"/>
            <a:ext cx="53035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977640"/>
            <a:ext cx="49377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E62"/>
                </a:solidFill>
              </a:defRPr>
            </a:pPr>
            <a:r>
              <a:t>Scenario 4: Endurance &amp; Battery Cycling</a:t>
            </a:r>
          </a:p>
          <a:p>
            <a:pPr>
              <a:spcBef>
                <a:spcPts val="200"/>
              </a:spcBef>
              <a:defRPr sz="950" b="1">
                <a:solidFill>
                  <a:srgbClr val="FF6500"/>
                </a:solidFill>
              </a:defRPr>
            </a:pPr>
            <a:r>
              <a:t>8 UAVs | 16 Dispersed PoIs | Multi-Cycle Mission</a:t>
            </a:r>
          </a:p>
          <a:p>
            <a:pPr>
              <a:spcBef>
                <a:spcPts val="200"/>
              </a:spcBef>
              <a:defRPr sz="950">
                <a:solidFill>
                  <a:srgbClr val="212529"/>
                </a:solidFill>
              </a:defRPr>
            </a:pPr>
            <a:r>
              <a:t>• Large-scale mission exceeding single-battery energy capacity.</a:t>
            </a:r>
          </a:p>
          <a:p>
            <a:pPr>
              <a:spcBef>
                <a:spcPts val="200"/>
              </a:spcBef>
              <a:defRPr sz="950">
                <a:solidFill>
                  <a:srgbClr val="212529"/>
                </a:solidFill>
              </a:defRPr>
            </a:pPr>
            <a:r>
              <a:t>• UAVs autonomously trigger RTB, cycle through GCS charging pads.</a:t>
            </a:r>
          </a:p>
          <a:p>
            <a:pPr>
              <a:spcBef>
                <a:spcPts val="200"/>
              </a:spcBef>
              <a:defRPr sz="950">
                <a:solidFill>
                  <a:srgbClr val="212529"/>
                </a:solidFill>
              </a:defRPr>
            </a:pPr>
            <a:r>
              <a:t>• Seamless relay handoff preserves continuous telemetry.</a:t>
            </a:r>
          </a:p>
          <a:p>
            <a:pPr>
              <a:spcBef>
                <a:spcPts val="200"/>
              </a:spcBef>
              <a:defRPr sz="950">
                <a:solidFill>
                  <a:srgbClr val="212529"/>
                </a:solidFill>
              </a:defRPr>
            </a:pPr>
            <a:r>
              <a:t>• Result: 16/16 PoIs surveyed in 351.9s; zero crash.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6500"/>
                </a:solidFill>
              </a:defRPr>
            </a:pPr>
            <a:r>
              <a:t>AEROMESH-SWARM | STAGE 1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E62"/>
                </a:solidFill>
              </a:defRPr>
            </a:pPr>
            <a:r>
              <a:t>Empirical Benchmark Results (Stage 1 Verification)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68580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554480"/>
          <a:ext cx="6492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97280"/>
                <a:gridCol w="1097280"/>
                <a:gridCol w="1097280"/>
                <a:gridCol w="1097280"/>
              </a:tblGrid>
              <a:tr h="508000">
                <a:tc>
                  <a:txBody>
                    <a:bodyPr/>
                    <a:lstStyle/>
                    <a:p>
                      <a:pPr algn="l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E3E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S1: Baseline</a:t>
                      </a:r>
                    </a:p>
                  </a:txBody>
                  <a:tcPr>
                    <a:solidFill>
                      <a:srgbClr val="1E3E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S2: Canyon</a:t>
                      </a:r>
                    </a:p>
                  </a:txBody>
                  <a:tcPr>
                    <a:solidFill>
                      <a:srgbClr val="1E3E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S3: Fault</a:t>
                      </a:r>
                    </a:p>
                  </a:txBody>
                  <a:tcPr>
                    <a:solidFill>
                      <a:srgbClr val="1E3E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S4: Endurance</a:t>
                      </a:r>
                    </a:p>
                  </a:txBody>
                  <a:tcPr>
                    <a:solidFill>
                      <a:srgbClr val="1E3E62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12529"/>
                          </a:solidFill>
                        </a:defRPr>
                      </a:pPr>
                      <a:r>
                        <a:t>PoI Coverage (%)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8A745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8A745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8A745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8A745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12529"/>
                          </a:solidFill>
                        </a:defRPr>
                      </a:pPr>
                      <a:r>
                        <a:t>Packet Delivery Ratio (PDR)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8A745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8A745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8A745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8A745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12529"/>
                          </a:solidFill>
                        </a:defRPr>
                      </a:pPr>
                      <a:r>
                        <a:t>Avg E2E Latency (ms)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101.7 ms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282.2 ms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123.0 ms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114.4 ms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12529"/>
                          </a:solidFill>
                        </a:defRPr>
                      </a:pPr>
                      <a:r>
                        <a:t>PoIs Surveyed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10 /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8 /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8 /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16 / 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12529"/>
                          </a:solidFill>
                        </a:defRPr>
                      </a:pPr>
                      <a:r>
                        <a:t>Mission Duration (s)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289.0 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256.0 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229.9 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351.9 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12529"/>
                          </a:solidFill>
                        </a:defRPr>
                      </a:pPr>
                      <a:r>
                        <a:t>Energy Consumed (kWh)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0.12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0.14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0.11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0.18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12529"/>
                          </a:solidFill>
                        </a:defRPr>
                      </a:pPr>
                      <a:r>
                        <a:t>Survey Rate (PoI/min)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2.1 /min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1.9 /min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2.1 /min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2.7 /min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12529"/>
                          </a:solidFill>
                        </a:defRPr>
                      </a:pPr>
                      <a:r>
                        <a:t>Swarm Survival Rate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8A745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8A745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8A745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8A745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0" y="1371600"/>
            <a:ext cx="368777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554480"/>
            <a:ext cx="33220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E62"/>
                </a:solidFill>
              </a:defRPr>
            </a:pPr>
            <a:r>
              <a:t>Key Empirical Findings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FF6500"/>
                </a:solidFill>
              </a:rPr>
              <a:t>100% Mission Completion: </a:t>
            </a:r>
            <a:r>
              <a:rPr sz="1000">
                <a:solidFill>
                  <a:srgbClr val="212529"/>
                </a:solidFill>
              </a:rPr>
              <a:t>All 42 total PoIs across 4 scenarios successfully surveyed.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FF6500"/>
                </a:solidFill>
              </a:rPr>
              <a:t>Zero Packet Loss: </a:t>
            </a:r>
            <a:r>
              <a:rPr sz="1000">
                <a:solidFill>
                  <a:srgbClr val="212529"/>
                </a:solidFill>
              </a:rPr>
              <a:t>ETX-weighted routing maintained 100% PDR across single and multi-hop links.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FF6500"/>
                </a:solidFill>
              </a:rPr>
              <a:t>Rapid Failure Recovery: </a:t>
            </a:r>
            <a:r>
              <a:rPr sz="1000">
                <a:solidFill>
                  <a:srgbClr val="212529"/>
                </a:solidFill>
              </a:rPr>
              <a:t>Autonomous self-healing restored disconnected mesh within 2.1 seconds.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FF6500"/>
                </a:solidFill>
              </a:rPr>
              <a:t>Zero Battery Depletion Crashes: </a:t>
            </a:r>
            <a:r>
              <a:rPr sz="1000">
                <a:solidFill>
                  <a:srgbClr val="212529"/>
                </a:solidFill>
              </a:rPr>
              <a:t>Dynamic RTB boundaries successfully brought all UAVs to GCS before critical exhaustion.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6500"/>
                </a:solidFill>
              </a:defRPr>
            </a:pPr>
            <a:r>
              <a:t>AEROMESH-SWARM | STAGE 1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E62"/>
                </a:solidFill>
              </a:defRPr>
            </a:pPr>
            <a:r>
              <a:t>ROS 2 Humble Architecture &amp; Stage 2 Deployment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E62"/>
                </a:solidFill>
              </a:defRPr>
            </a:pPr>
            <a:r>
              <a:t>ROS 2 Humble Compliance (Stage 2 Ready)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</a:defRPr>
            </a:pPr>
            <a:r>
              <a:t>The Python simulation models map 1:1 to a production ROS 2 package:</a:t>
            </a:r>
            <a:br/>
            <a:br/>
            <a:r>
              <a:t>Package: aeromesh_swarm (ROS 2 Humble / Iron)</a:t>
            </a:r>
            <a:br/>
            <a:br/>
            <a:r>
              <a:t>Standard Published Topics:</a:t>
            </a:r>
            <a:br/>
            <a:r>
              <a:t>• /aeromesh/uav_{id}/pose (geometry_msgs/PoseStamped)</a:t>
            </a:r>
            <a:br/>
            <a:r>
              <a:t>• /aeromesh/uav_{id}/battery_state (sensor_msgs/BatteryState)</a:t>
            </a:r>
            <a:br/>
            <a:r>
              <a:t>• /aeromesh/network/topology (aeromesh_msgs/MeshTopology)</a:t>
            </a:r>
            <a:br/>
            <a:r>
              <a:t>• /aeromesh/network/link_quality (aeromesh_msgs/LinkQuality)</a:t>
            </a:r>
            <a:br/>
            <a:br/>
            <a:r>
              <a:t>Custom ROS 2 Services:</a:t>
            </a:r>
            <a:br/>
            <a:r>
              <a:t>• /aeromesh/task/allocate (aeromesh_srvs/AllocateTasks)</a:t>
            </a:r>
            <a:br/>
            <a:r>
              <a:t>• /aeromesh/mission/inject_poi (aeromesh_srvs/InjectEmergencyPoI)</a:t>
            </a:r>
            <a:br/>
            <a:r>
              <a:t>• /aeromesh/metrics/summary (aeromesh_srvs/GetMissionMetrics)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4225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764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E62"/>
                </a:solidFill>
              </a:defRPr>
            </a:pPr>
            <a:r>
              <a:t>Hardware-in-the-Loop (HITL) Roadmap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FF6500"/>
                </a:solidFill>
              </a:rPr>
              <a:t>Phase 1: PX4 SITL &amp; Gazebo Garden: </a:t>
            </a:r>
            <a:r>
              <a:rPr sz="1000">
                <a:solidFill>
                  <a:srgbClr val="212529"/>
                </a:solidFill>
              </a:rPr>
              <a:t>Bridge CBBA &amp; MeshRouter nodes with PX4 Autopilot over MAVROS in 3D physics environment with realistic wind turbulence.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FF6500"/>
                </a:solidFill>
              </a:rPr>
              <a:t>Phase 2: Hardware Companion Computers: </a:t>
            </a:r>
            <a:r>
              <a:rPr sz="1000">
                <a:solidFill>
                  <a:srgbClr val="212529"/>
                </a:solidFill>
              </a:rPr>
              <a:t>Deploy decentralized nodes onto Raspberry Pi 4 / NVIDIA Jetson Orin Nano companion computers running ROS 2 DDS.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FF6500"/>
                </a:solidFill>
              </a:rPr>
              <a:t>Phase 3: Wireless Mesh Hardware: </a:t>
            </a:r>
            <a:r>
              <a:rPr sz="1000">
                <a:solidFill>
                  <a:srgbClr val="212529"/>
                </a:solidFill>
              </a:rPr>
              <a:t>Interface with physical 802.11s ad-hoc mesh transceivers or long-range ESP-NOW / LoRa backup links.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FF6500"/>
                </a:solidFill>
              </a:rPr>
              <a:t>Phase 4: Field Validation: </a:t>
            </a:r>
            <a:r>
              <a:rPr sz="1000">
                <a:solidFill>
                  <a:srgbClr val="212529"/>
                </a:solidFill>
              </a:rPr>
              <a:t>Execute autonomous multi-UAV disaster field trials with automated survivor tagging via YOLOv8-nano.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6500"/>
                </a:solidFill>
              </a:defRPr>
            </a:pPr>
            <a:r>
              <a:t>AEROMESH-SWARM | STAGE 1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E62"/>
                </a:solidFill>
              </a:defRPr>
            </a:pPr>
            <a:r>
              <a:t>5-Minute Quickstart &amp; Verification Workflow for Evaluators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4937760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E62"/>
                </a:solidFill>
              </a:defRPr>
            </a:pPr>
            <a:r>
              <a:t>Step 1: Clone &amp; Install (1 min)</a:t>
            </a:r>
          </a:p>
          <a:p>
            <a:pPr>
              <a:spcBef>
                <a:spcPts val="300"/>
              </a:spcBef>
              <a:defRPr sz="1000" b="1">
                <a:solidFill>
                  <a:srgbClr val="FF6500"/>
                </a:solidFill>
              </a:defRPr>
            </a:pPr>
            <a:r>
              <a:t>$ pip install -r requirements.txt</a:t>
            </a:r>
          </a:p>
          <a:p>
            <a:pPr>
              <a:spcBef>
                <a:spcPts val="300"/>
              </a:spcBef>
              <a:defRPr sz="950">
                <a:solidFill>
                  <a:srgbClr val="212529"/>
                </a:solidFill>
              </a:defRPr>
            </a:pPr>
            <a:r>
              <a:t>Zero heavy proprietary dependencies. Compatible with Linux, macOS, and Windows 10/11.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3035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481328"/>
            <a:ext cx="4937760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E62"/>
                </a:solidFill>
              </a:defRPr>
            </a:pPr>
            <a:r>
              <a:t>Step 2: Run Test Suite (30 sec)</a:t>
            </a:r>
          </a:p>
          <a:p>
            <a:pPr>
              <a:spcBef>
                <a:spcPts val="300"/>
              </a:spcBef>
              <a:defRPr sz="1000" b="1">
                <a:solidFill>
                  <a:srgbClr val="FF6500"/>
                </a:solidFill>
              </a:defRPr>
            </a:pPr>
            <a:r>
              <a:t>$ python -m pytest tests/ -v</a:t>
            </a:r>
          </a:p>
          <a:p>
            <a:pPr>
              <a:spcBef>
                <a:spcPts val="300"/>
              </a:spcBef>
              <a:defRPr sz="950">
                <a:solidFill>
                  <a:srgbClr val="212529"/>
                </a:solidFill>
              </a:defRPr>
            </a:pPr>
            <a:r>
              <a:t>Executes all 19 unit &amp; integration tests covering RF channel, CBBA, routing, and scenarios. (100% Pass)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53035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4937760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E62"/>
                </a:solidFill>
              </a:defRPr>
            </a:pPr>
            <a:r>
              <a:t>Step 3: Run Benchmarks (3 min)</a:t>
            </a:r>
          </a:p>
          <a:p>
            <a:pPr>
              <a:spcBef>
                <a:spcPts val="300"/>
              </a:spcBef>
              <a:defRPr sz="1000" b="1">
                <a:solidFill>
                  <a:srgbClr val="FF6500"/>
                </a:solidFill>
              </a:defRPr>
            </a:pPr>
            <a:r>
              <a:t>$ python run_simulation.py --benchmark-all</a:t>
            </a:r>
          </a:p>
          <a:p>
            <a:pPr>
              <a:spcBef>
                <a:spcPts val="300"/>
              </a:spcBef>
              <a:defRPr sz="950">
                <a:solidFill>
                  <a:srgbClr val="212529"/>
                </a:solidFill>
              </a:defRPr>
            </a:pPr>
            <a:r>
              <a:t>Executes all 4 disaster scenarios in 10x real-time and prints full performance comparison matrix.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017520"/>
            <a:ext cx="53035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127248"/>
            <a:ext cx="4937760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E62"/>
                </a:solidFill>
              </a:defRPr>
            </a:pPr>
            <a:r>
              <a:t>Step 4: Verify ROS 2 Bridge (10 sec)</a:t>
            </a:r>
          </a:p>
          <a:p>
            <a:pPr>
              <a:spcBef>
                <a:spcPts val="300"/>
              </a:spcBef>
              <a:defRPr sz="1000" b="1">
                <a:solidFill>
                  <a:srgbClr val="FF6500"/>
                </a:solidFill>
              </a:defRPr>
            </a:pPr>
            <a:r>
              <a:t>$ python ros2_interface/ros2_bridge.py</a:t>
            </a:r>
          </a:p>
          <a:p>
            <a:pPr>
              <a:spcBef>
                <a:spcPts val="300"/>
              </a:spcBef>
              <a:defRPr sz="950">
                <a:solidFill>
                  <a:srgbClr val="212529"/>
                </a:solidFill>
              </a:defRPr>
            </a:pPr>
            <a:r>
              <a:t>Validates ROS 2 Humble node interface compliance and topic/service mappings for Stage 2.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53035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773168"/>
            <a:ext cx="4937760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E62"/>
                </a:solidFill>
              </a:defRPr>
            </a:pPr>
            <a:r>
              <a:t>Step 5: Inspect Visual Demo</a:t>
            </a:r>
          </a:p>
          <a:p>
            <a:pPr>
              <a:spcBef>
                <a:spcPts val="300"/>
              </a:spcBef>
              <a:defRPr sz="1000" b="1">
                <a:solidFill>
                  <a:srgbClr val="FF6500"/>
                </a:solidFill>
              </a:defRPr>
            </a:pPr>
            <a:r>
              <a:t>$ scenario_3_demo.gif</a:t>
            </a:r>
          </a:p>
          <a:p>
            <a:pPr>
              <a:spcBef>
                <a:spcPts val="300"/>
              </a:spcBef>
              <a:defRPr sz="950">
                <a:solidFill>
                  <a:srgbClr val="212529"/>
                </a:solidFill>
              </a:defRPr>
            </a:pPr>
            <a:r>
              <a:t>Review high-resolution self-healing animation demonstrating autonomous 2.1s relay recovery.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663440"/>
            <a:ext cx="53035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773168"/>
            <a:ext cx="4937760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E62"/>
                </a:solidFill>
              </a:defRPr>
            </a:pPr>
            <a:r>
              <a:t>Step 6: Review Technical Proposal</a:t>
            </a:r>
          </a:p>
          <a:p>
            <a:pPr>
              <a:spcBef>
                <a:spcPts val="300"/>
              </a:spcBef>
              <a:defRPr sz="1000" b="1">
                <a:solidFill>
                  <a:srgbClr val="FF6500"/>
                </a:solidFill>
              </a:defRPr>
            </a:pPr>
            <a:r>
              <a:t>$ docs/TECHNICAL_PROPOSAL.md</a:t>
            </a:r>
          </a:p>
          <a:p>
            <a:pPr>
              <a:spcBef>
                <a:spcPts val="300"/>
              </a:spcBef>
              <a:defRPr sz="950">
                <a:solidFill>
                  <a:srgbClr val="212529"/>
                </a:solidFill>
              </a:defRPr>
            </a:pPr>
            <a:r>
              <a:t>Read complete 6-8 page academic proposal with complete mathematical formulations.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6500"/>
                </a:solidFill>
              </a:defRPr>
            </a:pPr>
            <a:r>
              <a:t>AEROMESH-SWARM | STAGE 1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0F4F8"/>
                </a:solidFill>
              </a:defRPr>
            </a:pPr>
            <a:r>
              <a:t>AeroMesh-Swarm: Stage 1 Verification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2926080"/>
          </a:xfrm>
          <a:prstGeom prst="roundRect">
            <a:avLst/>
          </a:prstGeom>
          <a:solidFill>
            <a:srgbClr val="142640"/>
          </a:solidFill>
          <a:ln w="1270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500"/>
                </a:solidFill>
              </a:defRPr>
            </a:pPr>
            <a:r>
              <a:t>100%</a:t>
            </a:r>
          </a:p>
          <a:p>
            <a:pPr algn="ctr"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Mission PoI Coverage</a:t>
            </a:r>
          </a:p>
          <a:p>
            <a:pPr algn="ctr">
              <a:spcBef>
                <a:spcPts val="800"/>
              </a:spcBef>
              <a:defRPr sz="950">
                <a:solidFill>
                  <a:srgbClr val="F0F4F8"/>
                </a:solidFill>
              </a:defRPr>
            </a:pPr>
            <a:r>
              <a:t>All 42 PoIs surveyed across 4 disaster scenarios with zero unvisited targets.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371600"/>
            <a:ext cx="2560320" cy="2926080"/>
          </a:xfrm>
          <a:prstGeom prst="roundRect">
            <a:avLst/>
          </a:prstGeom>
          <a:solidFill>
            <a:srgbClr val="142640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155448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A8E8"/>
                </a:solidFill>
              </a:defRPr>
            </a:pPr>
            <a:r>
              <a:t>100%</a:t>
            </a:r>
          </a:p>
          <a:p>
            <a:pPr algn="ctr"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Packet Delivery Ratio</a:t>
            </a:r>
          </a:p>
          <a:p>
            <a:pPr algn="ctr">
              <a:spcBef>
                <a:spcPts val="800"/>
              </a:spcBef>
              <a:defRPr sz="950">
                <a:solidFill>
                  <a:srgbClr val="F0F4F8"/>
                </a:solidFill>
              </a:defRPr>
            </a:pPr>
            <a:r>
              <a:t>Zero telemetry loss over dynamic ETX multi-hop mesh routes (up to 3 hops).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371600"/>
            <a:ext cx="2560320" cy="2926080"/>
          </a:xfrm>
          <a:prstGeom prst="roundRect">
            <a:avLst/>
          </a:prstGeom>
          <a:solidFill>
            <a:srgbClr val="142640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55448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8A745"/>
                </a:solidFill>
              </a:defRPr>
            </a:pPr>
            <a:r>
              <a:t>&lt; 2.1s</a:t>
            </a:r>
          </a:p>
          <a:p>
            <a:pPr algn="ctr"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Self-Healing Recovery</a:t>
            </a:r>
          </a:p>
          <a:p>
            <a:pPr algn="ctr">
              <a:spcBef>
                <a:spcPts val="800"/>
              </a:spcBef>
              <a:defRPr sz="950">
                <a:solidFill>
                  <a:srgbClr val="F0F4F8"/>
                </a:solidFill>
              </a:defRPr>
            </a:pPr>
            <a:r>
              <a:t>Autonomous relay failure detection &amp; role promotion restoring network bridge.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371600"/>
            <a:ext cx="2560320" cy="2926080"/>
          </a:xfrm>
          <a:prstGeom prst="roundRect">
            <a:avLst/>
          </a:prstGeom>
          <a:solidFill>
            <a:srgbClr val="14264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3416" y="155448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C107"/>
                </a:solidFill>
              </a:defRPr>
            </a:pPr>
            <a:r>
              <a:t>100%</a:t>
            </a:r>
          </a:p>
          <a:p>
            <a:pPr algn="ctr"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Swarm Survival Rate</a:t>
            </a:r>
          </a:p>
          <a:p>
            <a:pPr algn="ctr">
              <a:spcBef>
                <a:spcPts val="800"/>
              </a:spcBef>
              <a:defRPr sz="950">
                <a:solidFill>
                  <a:srgbClr val="F0F4F8"/>
                </a:solidFill>
              </a:defRPr>
            </a:pPr>
            <a:r>
              <a:t>Dynamic RTB boundaries guarantee zero UAV crashes from battery depletion.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72000"/>
            <a:ext cx="10728655" cy="1645920"/>
          </a:xfrm>
          <a:prstGeom prst="roundRect">
            <a:avLst/>
          </a:prstGeom>
          <a:solidFill>
            <a:srgbClr val="142640"/>
          </a:solidFill>
          <a:ln w="1270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709160"/>
            <a:ext cx="101800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Thank You! — Ready for Stage 1 Evaluation &amp; Stage 2 Hardware Transition</a:t>
            </a:r>
          </a:p>
          <a:p>
            <a:pPr>
              <a:spcBef>
                <a:spcPts val="600"/>
              </a:spcBef>
              <a:defRPr sz="1100">
                <a:solidFill>
                  <a:srgbClr val="00A8E8"/>
                </a:solidFill>
              </a:defRPr>
            </a:pPr>
            <a:r>
              <a:t>Team Lead: Naga Surya Dinesh  |  Email: nagasuryadinesh@gmail.com  |  Affiliation: Autonomous Robotics &amp; Swarm Lab</a:t>
            </a:r>
            <a:br/>
            <a:r>
              <a:t>Repository: https://github.com/nsd-surya-dinesh/aeromesh-swarm-disaster-response</a:t>
            </a:r>
            <a:br/>
            <a:r>
              <a:t>Submission Target: pushpak_gc2026@aero.iitb.ac.in  |  Pushpak Grand Challenge 2026, Techfest IIT Bombay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