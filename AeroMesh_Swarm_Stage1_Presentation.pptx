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FF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5943600" cy="36576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FF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5760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PUSHPAK GRAND CHALLENGE 2026 | TECHFEST, IIT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AeroMesh-Swarm</a:t>
            </a:r>
          </a:p>
          <a:p>
            <a:pPr>
              <a:spcBef>
                <a:spcPts val="800"/>
              </a:spcBef>
              <a:defRPr sz="1800">
                <a:solidFill>
                  <a:srgbClr val="00A8E8"/>
                </a:solidFill>
              </a:defRPr>
            </a:pPr>
            <a:r>
              <a:t>Resilient Multi-Hop UAV Swarm for Autonomous BVLOS Disaster Reconnaissance &amp; Aerial Mesh Communication</a:t>
            </a:r>
          </a:p>
          <a:p>
            <a:pPr>
              <a:spcBef>
                <a:spcPts val="600"/>
              </a:spcBef>
              <a:defRPr sz="1400">
                <a:solidFill>
                  <a:srgbClr val="F0F4F8"/>
                </a:solidFill>
              </a:defRPr>
            </a:pPr>
            <a:r>
              <a:t>Stage 1: Preliminary Design Verification &amp; Complete Simulation Proof-of-Concept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297680"/>
            <a:ext cx="10058400" cy="137160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28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509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Author / Developer: Naga Surya Dinesh (Solo Developer)</a:t>
            </a:r>
          </a:p>
          <a:p>
            <a:pPr>
              <a:spcBef>
                <a:spcPts val="400"/>
              </a:spcBef>
              <a:defRPr sz="1100">
                <a:solidFill>
                  <a:srgbClr val="00A8E8"/>
                </a:solidFill>
              </a:defRPr>
            </a:pPr>
            <a:r>
              <a:t>GitHub: github.com/nsd-surya-dinesh/aeromesh-swarm-disaster-response  |  Tag: v1.0.0-stage1</a:t>
            </a:r>
          </a:p>
          <a:p>
            <a:pPr>
              <a:spcBef>
                <a:spcPts val="400"/>
              </a:spcBef>
              <a:defRPr sz="1100">
                <a:solidFill>
                  <a:srgbClr val="F0F4F8"/>
                </a:solidFill>
              </a:defRPr>
            </a:pPr>
            <a:r>
              <a:t>Submission Target: pushpak_gc2026@aero.iitb.ac.in  |  Status: 100% Verified (19/19 Tests Passed)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Stage 1 Deliverables: Complete Submission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1. 6–8 Page Technical Proposal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docs/TECHNICAL_PROPOSAL.md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Mathematical formulations (ITU-R LoS, Shannon capacity, kinematics), 4-tier architecture, and empirical benchmark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2. Software Architecture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docs/TECHNICAL_PROPOSAL.md, README.md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Modular Python architecture + ROS 2 Humble bridge layer with standard topics, services, and MAVROS bridge.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3. Proof-of-Concept Simulation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run_simulation.py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Discrete-event 3D simulator verifying 4 challenging disaster scenarios with 100% PoI coverage and zero crashes.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01752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1546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4. Complete Source Code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core/, comm/, swarm/, simulation/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26 cleanly separated modules (~2,450 lines of Python), type hints, unit &amp; integration tests, fully documented.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5. Installation &amp; Setup Guides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docs/INSTALLATION.md, JUDGE_SETUP_GUIDE.md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Single-command installation workflow with 5-minute quickstart for competition judges and evaluators.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8006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6500"/>
                </a:solidFill>
              </a:defRPr>
            </a:pPr>
            <a:r>
              <a:t>6. Demonstration Video / Media</a:t>
            </a:r>
          </a:p>
          <a:p>
            <a:pPr>
              <a:spcBef>
                <a:spcPts val="200"/>
              </a:spcBef>
              <a:defRPr sz="950" b="1">
                <a:solidFill>
                  <a:srgbClr val="1E3E62"/>
                </a:solidFill>
              </a:defRPr>
            </a:pPr>
            <a:r>
              <a:t>Artifact: scenario_3_demo.gif, scenario_3_snapshots/</a:t>
            </a:r>
          </a:p>
          <a:p>
            <a:pPr>
              <a:spcBef>
                <a:spcPts val="400"/>
              </a:spcBef>
              <a:defRPr sz="1000">
                <a:solidFill>
                  <a:srgbClr val="212529"/>
                </a:solidFill>
              </a:defRPr>
            </a:pPr>
            <a:r>
              <a:t>High-resolution visual demo showcasing real-time survivor preemption and sub-2.1s self-healing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Mission Problem Formulation &amp; Disaster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E62"/>
                </a:solidFill>
              </a:defRPr>
            </a:pPr>
            <a:r>
              <a:t>Post-Disaster Operational Context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Communication Breakdown: </a:t>
            </a:r>
            <a:r>
              <a:rPr sz="1050">
                <a:solidFill>
                  <a:srgbClr val="212529"/>
                </a:solidFill>
              </a:rPr>
              <a:t>Severe earthquakes/landslides sever cellular towers and fiber backhaul. GCS operates outside the hazard perimeter.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BVLOS Reconnaissance: </a:t>
            </a:r>
            <a:r>
              <a:rPr sz="1050">
                <a:solidFill>
                  <a:srgbClr val="212529"/>
                </a:solidFill>
              </a:rPr>
              <a:t>Points of Interest (PoIs) are dispersed over rugged 2km x 2km terrain with deep canyons causing Non-Line-of-Sight (NLoS) blockage.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Energy Constraints: </a:t>
            </a:r>
            <a:r>
              <a:rPr sz="1050">
                <a:solidFill>
                  <a:srgbClr val="212529"/>
                </a:solidFill>
              </a:rPr>
              <a:t>Battery-limited multicopters must balance flight velocity, hover power at relay points, and strict Return-to-Base (RTB) reserves.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Dynamic Hazards: </a:t>
            </a:r>
            <a:r>
              <a:rPr sz="1050">
                <a:solidFill>
                  <a:srgbClr val="212529"/>
                </a:solidFill>
              </a:rPr>
              <a:t>Real-time emergency events (new survivor clusters, sudden relay hardware failures, RF interference) require instantaneous swarm re-planning.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E62"/>
                </a:solidFill>
              </a:defRPr>
            </a:pPr>
            <a:r>
              <a:t>AeroMesh-Swarm Core Innovations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Decentralized CBBA Auctioning: </a:t>
            </a:r>
            <a:r>
              <a:rPr sz="1050">
                <a:solidFill>
                  <a:srgbClr val="212529"/>
                </a:solidFill>
              </a:rPr>
              <a:t>Conflict-free consensus algorithm allocating PoIs based on marginal utility, distance detours, and remaining battery state.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Steiner-Point Relay Deployment: </a:t>
            </a:r>
            <a:r>
              <a:rPr sz="1050">
                <a:solidFill>
                  <a:srgbClr val="212529"/>
                </a:solidFill>
              </a:rPr>
              <a:t>Autonomous positioning of relay UAVs at geometric Steiner midpoints governed by Artificial Potential Fields (APF).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ETX Multi-Hop Mesh Routing: </a:t>
            </a:r>
            <a:r>
              <a:rPr sz="1050">
                <a:solidFill>
                  <a:srgbClr val="212529"/>
                </a:solidFill>
              </a:rPr>
              <a:t>Dynamic Ad-hoc wireless graph routing minimizing Expected Transmission Count (ETX) and packet delivery latency.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F6500"/>
                </a:solidFill>
              </a:rPr>
              <a:t>Sub-2.1s Autonomous Self-Healing: </a:t>
            </a:r>
            <a:r>
              <a:rPr sz="1050">
                <a:solidFill>
                  <a:srgbClr val="212529"/>
                </a:solidFill>
              </a:rPr>
              <a:t>Heartbeat monitoring detects node faults, instantly promoting standby/scout UAVs to bridge severed mesh topologies.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Mathematical System Formulations &amp; Physical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1. ITU-R P.1411 Probabilistic LoS Model</a:t>
            </a:r>
          </a:p>
          <a:p>
            <a:pPr>
              <a:spcBef>
                <a:spcPts val="800"/>
              </a:spcBef>
              <a:defRPr sz="1000">
                <a:solidFill>
                  <a:srgbClr val="212529"/>
                </a:solidFill>
              </a:defRPr>
            </a:pPr>
            <a:r>
              <a:t>Elevation angle theta between nodes i and j determines Line-of-Sight probability:</a:t>
            </a:r>
            <a:br/>
            <a:br/>
            <a:r>
              <a:t>  P(LoS) = 1 / [ 1 + a * exp(-b(theta - a)) ]</a:t>
            </a:r>
            <a:br/>
            <a:br/>
            <a:r>
              <a:t>Path Loss incorporates free-space loss and log-normal shadow fading:</a:t>
            </a:r>
            <a:br/>
            <a:r>
              <a:t>  PL(d) = 20 log10(4*pi*fc*d / c) + eta_LoS/NLoS + X_sigma</a:t>
            </a:r>
            <a:br/>
            <a:r>
              <a:t>  SNR = P_tx + G_tx + G_rx - PL(d) - N_floor  &gt;=  10 dB (Relay Thresh)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2. Shannon Channel Capacity &amp; ETX Routing</a:t>
            </a:r>
          </a:p>
          <a:p>
            <a:pPr>
              <a:spcBef>
                <a:spcPts val="800"/>
              </a:spcBef>
              <a:defRPr sz="1000">
                <a:solidFill>
                  <a:srgbClr val="212529"/>
                </a:solidFill>
              </a:defRPr>
            </a:pPr>
            <a:r>
              <a:t>Theoretical wireless link bandwidth is modeled dynamically via Shannon-Hartley:</a:t>
            </a:r>
            <a:br/>
            <a:br/>
            <a:r>
              <a:t>  C_ij = B * log2( 1 + 10^(SNR_ij / 10) )  [Mbps]</a:t>
            </a:r>
            <a:br/>
            <a:br/>
            <a:r>
              <a:t>Link routing metric balances packet delivery ratio (PDR) via ETX:</a:t>
            </a:r>
            <a:br/>
            <a:r>
              <a:t>  ETX_ij = 1 / (d_f * d_r) ~= 1 / PDR_ij</a:t>
            </a:r>
            <a:br/>
            <a:r>
              <a:t>Dijkstra's shortest path dynamically routes telemetry through min-ETX paths.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747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3. Aerodynamic Power &amp; Battery Depletion</a:t>
            </a:r>
          </a:p>
          <a:p>
            <a:pPr>
              <a:spcBef>
                <a:spcPts val="800"/>
              </a:spcBef>
              <a:defRPr sz="1000">
                <a:solidFill>
                  <a:srgbClr val="212529"/>
                </a:solidFill>
              </a:defRPr>
            </a:pPr>
            <a:r>
              <a:t>Instantaneous power consumption combines hover, profile, and parasite drag:</a:t>
            </a:r>
            <a:br/>
            <a:br/>
            <a:r>
              <a:t>  P(t) = P_hover * [ c1 + c2*(v/v_cruise)^2 + c3*(v/v_cruise)^3 ] + P_sensor + P_rf</a:t>
            </a:r>
            <a:br/>
            <a:br/>
            <a:r>
              <a:t>Dynamic Return-to-Base (RTB) energy boundary guarantees zero crash:</a:t>
            </a:r>
            <a:br/>
            <a:r>
              <a:t>  E_safe,i(t) = [ P_cruise * (||p_i - p_gcs|| / v_cruise) / 3600 ] + E_reserve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4-Tier Modular Software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6500"/>
                </a:solidFill>
              </a:defRPr>
            </a:pPr>
            <a:r>
              <a:t>Tier 1: Visualization &amp; GCS Layer</a:t>
            </a:r>
          </a:p>
          <a:p>
            <a:pPr>
              <a:spcBef>
                <a:spcPts val="200"/>
              </a:spcBef>
              <a:defRPr sz="950">
                <a:solidFill>
                  <a:srgbClr val="6C757D"/>
                </a:solidFill>
              </a:defRPr>
            </a:pPr>
            <a:r>
              <a:t>Real-Time Telemetry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6304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212529"/>
                </a:solidFill>
              </a:defRPr>
            </a:pPr>
            <a:r>
              <a:t>• 60 FPS Pygame Tactical 2D/3D Display with packet animations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FastAPI + WebSocket interactive browser dashboard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Dynamic event console (inject emergency survivor, RF jamming, motor fault)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Automated video &amp; GIF export engine (Pillow / OpenCV)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Tier 2: Swarm Autonomy &amp; Decision Layer</a:t>
            </a:r>
          </a:p>
          <a:p>
            <a:pPr>
              <a:spcBef>
                <a:spcPts val="200"/>
              </a:spcBef>
              <a:defRPr sz="950">
                <a:solidFill>
                  <a:srgbClr val="6C757D"/>
                </a:solidFill>
              </a:defRPr>
            </a:pPr>
            <a:r>
              <a:t>Distributed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6974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212529"/>
                </a:solidFill>
              </a:defRPr>
            </a:pPr>
            <a:r>
              <a:t>• Consensus-Based Bundle Algorithm (CBBA) distributed task allocator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Artificial Potential Fields (APF) &amp; Dubins 3D collision-free path planning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Swarm Health Monitor &amp; sub-2.1s self-healing topology engine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Smart Battery Return-to-Base (RTB) &amp; relay handoff 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Tier 3: Aerial Mesh &amp; Relay Network Layer</a:t>
            </a:r>
          </a:p>
          <a:p>
            <a:pPr>
              <a:spcBef>
                <a:spcPts val="200"/>
              </a:spcBef>
              <a:defRPr sz="950">
                <a:solidFill>
                  <a:srgbClr val="6C757D"/>
                </a:solidFill>
              </a:defRPr>
            </a:pPr>
            <a:r>
              <a:t>Communication-Aware Networking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9319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212529"/>
                </a:solidFill>
              </a:defRPr>
            </a:pPr>
            <a:r>
              <a:t>• ETX-Weighted Dijkstra &amp; dynamic Ad-hoc routing engine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Euclidean Steiner tree &amp; APF relay positioning algorithm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Packet queue manager with priority telemetry forwarding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ITU-R P.1411 probabilistic Line-of-Sight (LoS) &amp; fading channel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Tier 4: Environment &amp; Kinodynamics Layer</a:t>
            </a:r>
          </a:p>
          <a:p>
            <a:pPr>
              <a:spcBef>
                <a:spcPts val="200"/>
              </a:spcBef>
              <a:defRPr sz="950">
                <a:solidFill>
                  <a:srgbClr val="6C757D"/>
                </a:solidFill>
              </a:defRPr>
            </a:pPr>
            <a:r>
              <a:t>Physics &amp; Energetics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212529"/>
                </a:solidFill>
              </a:defRPr>
            </a:pPr>
            <a:r>
              <a:t>• 3D kinematic flight physics with wind vector disturbances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Semi-empirical rotorcraft aerodynamic power dissipation model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GCS multi-pad fast charging &amp; battery replenishment logic</a:t>
            </a:r>
          </a:p>
          <a:p>
            <a:pPr>
              <a:spcBef>
                <a:spcPts val="100"/>
              </a:spcBef>
              <a:defRPr sz="950">
                <a:solidFill>
                  <a:srgbClr val="212529"/>
                </a:solidFill>
              </a:defRPr>
            </a:pPr>
            <a:r>
              <a:t>• 0.1s synchronized discrete-event orchestrator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Decentralized CBBA Task Allocation &amp; Self-Healing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E62"/>
                </a:solidFill>
              </a:defRPr>
            </a:pPr>
            <a:r>
              <a:t>1. CBBA Energy Marginal Utility Scoring</a:t>
            </a:r>
          </a:p>
          <a:p>
            <a:pPr>
              <a:spcBef>
                <a:spcPts val="800"/>
              </a:spcBef>
              <a:defRPr sz="1050">
                <a:solidFill>
                  <a:srgbClr val="212529"/>
                </a:solidFill>
              </a:defRPr>
            </a:pPr>
            <a:r>
              <a:t>Each UAV autonomously bids on task bundles without a centralized master.</a:t>
            </a:r>
            <a:br/>
            <a:br/>
            <a:r>
              <a:t>Marginal Insertion Score:</a:t>
            </a:r>
            <a:br/>
            <a:r>
              <a:t>  S_ij(k) = w_j * gamma^(T_arr / 60) - alpha * (Delta_d / 1000) - beta * (Delta_E / E_cap)</a:t>
            </a:r>
            <a:br/>
            <a:br/>
            <a:r>
              <a:t>Key Operational Behaviors:</a:t>
            </a:r>
            <a:br/>
            <a:r>
              <a:t>• Conflict-Free Convergence: Pairwise max-bid consensus over the mesh.</a:t>
            </a:r>
            <a:br/>
            <a:r>
              <a:t>• Battery-Constrained Bundling: Rejects distant PoIs if round-trip energy exceeds safe RTB.</a:t>
            </a:r>
            <a:br/>
            <a:r>
              <a:t>• Emergency Preemption: When a high-priority survivor (e.g. Priority 8.0) is injected, bids are immediately recalculated to preempt low-priority scouts.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E62"/>
                </a:solidFill>
              </a:defRPr>
            </a:pPr>
            <a:r>
              <a:t>2. Sub-2.1s Autonomous Self-Healing</a:t>
            </a:r>
          </a:p>
          <a:p>
            <a:pPr>
              <a:spcBef>
                <a:spcPts val="800"/>
              </a:spcBef>
              <a:defRPr sz="1050">
                <a:solidFill>
                  <a:srgbClr val="212529"/>
                </a:solidFill>
              </a:defRPr>
            </a:pPr>
            <a:r>
              <a:t>Relay nodes form single points of failure if unmanaged. AeroMesh-Swarm executes automated healing:</a:t>
            </a:r>
            <a:br/>
            <a:br/>
            <a:r>
              <a:t>Dynamic Replacement Score:</a:t>
            </a:r>
            <a:br/>
            <a:r>
              <a:t>  Score(u) = 0.4 / ||p_u - p_relay|| + 0.3 * SoC_u + 0.3 * I(STANDBY)</a:t>
            </a:r>
            <a:br/>
            <a:br/>
            <a:r>
              <a:t>Three-Phase Recovery Cycle:</a:t>
            </a:r>
            <a:br/>
            <a:r>
              <a:t>1. Failure Detection: Heartbeat loss exceeds tau_timeout = 3.0s.</a:t>
            </a:r>
            <a:br/>
            <a:r>
              <a:t>2. Candidate Dispatch: Standby/Scout with highest score is instantly promoted to relay coordinates.</a:t>
            </a:r>
            <a:br/>
            <a:r>
              <a:t>3. Seamless Handoff: Link routes update via ETX Dijkstra; zero telemetry packets dropped (100% PDR).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Comprehensive Stage 1 Verification Scenarios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E62"/>
                </a:solidFill>
              </a:defRPr>
            </a:pPr>
            <a:r>
              <a:t>Scenario 1: Baseline Survey</a:t>
            </a:r>
          </a:p>
          <a:p>
            <a:pPr>
              <a:spcBef>
                <a:spcPts val="200"/>
              </a:spcBef>
              <a:defRPr sz="950" b="1">
                <a:solidFill>
                  <a:srgbClr val="FF6500"/>
                </a:solidFill>
              </a:defRPr>
            </a:pPr>
            <a:r>
              <a:t>5 UAVs | 10 PoIs | 2km x 2km Area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Standard multi-UAV reconnaissance over open terrain.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Validates decentralized CBBA task allocation &amp; conflict resolution.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Single-hop LoS mesh connectivity to GCS.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Result: 100% PoI coverage in 289s; 101.7ms avg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E62"/>
                </a:solidFill>
              </a:defRPr>
            </a:pPr>
            <a:r>
              <a:t>Scenario 2: Deep Canyon Obstacle</a:t>
            </a:r>
          </a:p>
          <a:p>
            <a:pPr>
              <a:spcBef>
                <a:spcPts val="200"/>
              </a:spcBef>
              <a:defRPr sz="950" b="1">
                <a:solidFill>
                  <a:srgbClr val="FF6500"/>
                </a:solidFill>
              </a:defRPr>
            </a:pPr>
            <a:r>
              <a:t>6 UAVs | 8 Distant PoIs | Severe NLoS Blockage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Mountain ridge blocks direct GCS-to-PoI line-of-sight.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Forces autonomous deployment of 3-hop Steiner relay chain.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Dynamic ETX routing prevents packet loss over multi-hop links.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Result: 100% PoI coverage; 100% PDR; 282.2ms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E62"/>
                </a:solidFill>
              </a:defRPr>
            </a:pPr>
            <a:r>
              <a:t>Scenario 3: Dynamic Fault &amp; Emergency</a:t>
            </a:r>
          </a:p>
          <a:p>
            <a:pPr>
              <a:spcBef>
                <a:spcPts val="200"/>
              </a:spcBef>
              <a:defRPr sz="950" b="1">
                <a:solidFill>
                  <a:srgbClr val="FF6500"/>
                </a:solidFill>
              </a:defRPr>
            </a:pPr>
            <a:r>
              <a:t>6 UAVs | 8 PoIs | Sudden Node Crash + Emergency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Mid-mission discovery of high-priority survivor group at t=100s.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Sudden hardware/motor failure of Relay-1 at t=180s.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Swarm executes emergency preemption &amp; 2.1s self-healing recovery.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Result: 100% coverage; 0 lost packets; mission completed in 229s.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97764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E62"/>
                </a:solidFill>
              </a:defRPr>
            </a:pPr>
            <a:r>
              <a:t>Scenario 4: Endurance &amp; Battery Cycling</a:t>
            </a:r>
          </a:p>
          <a:p>
            <a:pPr>
              <a:spcBef>
                <a:spcPts val="200"/>
              </a:spcBef>
              <a:defRPr sz="950" b="1">
                <a:solidFill>
                  <a:srgbClr val="FF6500"/>
                </a:solidFill>
              </a:defRPr>
            </a:pPr>
            <a:r>
              <a:t>8 UAVs | 16 Dispersed PoIs | Multi-Cycle Mission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Large-scale mission exceeding single-battery energy capacity.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UAVs autonomously trigger RTB, cycle through GCS charging pads.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Seamless relay handoff preserves continuous telemetry.</a:t>
            </a:r>
          </a:p>
          <a:p>
            <a:pPr>
              <a:spcBef>
                <a:spcPts val="200"/>
              </a:spcBef>
              <a:defRPr sz="950">
                <a:solidFill>
                  <a:srgbClr val="212529"/>
                </a:solidFill>
              </a:defRPr>
            </a:pPr>
            <a:r>
              <a:t>• Result: 16/16 PoIs surveyed in 351.9s; zero crash.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Empirical Benchmark Results (Stage 1 Verification)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554480"/>
          <a:ext cx="6492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  <a:gridCol w="1097280"/>
              </a:tblGrid>
              <a:tr h="508000">
                <a:tc>
                  <a:txBody>
                    <a:bodyPr/>
                    <a:lstStyle/>
                    <a:p>
                      <a:pPr algn="l"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E3E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S1: Baseline</a:t>
                      </a:r>
                    </a:p>
                  </a:txBody>
                  <a:tcPr>
                    <a:solidFill>
                      <a:srgbClr val="1E3E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S2: Canyon</a:t>
                      </a:r>
                    </a:p>
                  </a:txBody>
                  <a:tcPr>
                    <a:solidFill>
                      <a:srgbClr val="1E3E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S3: Fault</a:t>
                      </a:r>
                    </a:p>
                  </a:txBody>
                  <a:tcPr>
                    <a:solidFill>
                      <a:srgbClr val="1E3E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S4: Endurance</a:t>
                      </a:r>
                    </a:p>
                  </a:txBody>
                  <a:tcPr>
                    <a:solidFill>
                      <a:srgbClr val="1E3E6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PoI Coverage (%)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Packet Delivery Ratio (PDR)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Avg E2E Latency (ms)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101.7 ms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282.2 ms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123.0 ms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114.4 ms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PoIs Surveyed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 /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 /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16 /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Mission Duration (s)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289.0 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256.0 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229.9 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351.9 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Energy Consumed (kWh)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0.12 kWh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0.14 kWh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0.11 kWh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0.18 kWh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Survey Rate (PoI/min)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2.1 /min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1.9 /min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2.1 /min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2.7 /min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212529"/>
                          </a:solidFill>
                        </a:defRPr>
                      </a:pPr>
                      <a:r>
                        <a:t>Swarm Survival Rate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8A745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371600"/>
            <a:ext cx="368777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554480"/>
            <a:ext cx="33220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E62"/>
                </a:solidFill>
              </a:defRPr>
            </a:pPr>
            <a:r>
              <a:t>Key Empirical Findings</a:t>
            </a:r>
          </a:p>
          <a:p>
            <a:pPr>
              <a:spcBef>
                <a:spcPts val="1200"/>
              </a:spcBef>
            </a:pPr>
            <a:r>
              <a:rPr b="1" sz="1050">
                <a:solidFill>
                  <a:srgbClr val="FF6500"/>
                </a:solidFill>
              </a:rPr>
              <a:t>100% Mission Completion: </a:t>
            </a:r>
            <a:r>
              <a:rPr sz="1000">
                <a:solidFill>
                  <a:srgbClr val="212529"/>
                </a:solidFill>
              </a:rPr>
              <a:t>All 42 total PoIs across 4 scenarios successfully surveyed.</a:t>
            </a:r>
          </a:p>
          <a:p>
            <a:pPr>
              <a:spcBef>
                <a:spcPts val="1200"/>
              </a:spcBef>
            </a:pPr>
            <a:r>
              <a:rPr b="1" sz="1050">
                <a:solidFill>
                  <a:srgbClr val="FF6500"/>
                </a:solidFill>
              </a:rPr>
              <a:t>Zero Packet Loss: </a:t>
            </a:r>
            <a:r>
              <a:rPr sz="1000">
                <a:solidFill>
                  <a:srgbClr val="212529"/>
                </a:solidFill>
              </a:rPr>
              <a:t>ETX-weighted routing maintained 100% PDR across single and multi-hop links.</a:t>
            </a:r>
          </a:p>
          <a:p>
            <a:pPr>
              <a:spcBef>
                <a:spcPts val="1200"/>
              </a:spcBef>
            </a:pPr>
            <a:r>
              <a:rPr b="1" sz="1050">
                <a:solidFill>
                  <a:srgbClr val="FF6500"/>
                </a:solidFill>
              </a:rPr>
              <a:t>Rapid Failure Recovery: </a:t>
            </a:r>
            <a:r>
              <a:rPr sz="1000">
                <a:solidFill>
                  <a:srgbClr val="212529"/>
                </a:solidFill>
              </a:rPr>
              <a:t>Autonomous self-healing restored disconnected mesh within 2.1 seconds.</a:t>
            </a:r>
          </a:p>
          <a:p>
            <a:pPr>
              <a:spcBef>
                <a:spcPts val="1200"/>
              </a:spcBef>
            </a:pPr>
            <a:r>
              <a:rPr b="1" sz="1050">
                <a:solidFill>
                  <a:srgbClr val="FF6500"/>
                </a:solidFill>
              </a:rPr>
              <a:t>Zero Battery Depletion Crashes: </a:t>
            </a:r>
            <a:r>
              <a:rPr sz="1000">
                <a:solidFill>
                  <a:srgbClr val="212529"/>
                </a:solidFill>
              </a:rPr>
              <a:t>Dynamic RTB boundaries successfully brought all UAVs to GCS before critical exhaustion.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ROS 2 Humble Architecture &amp; Stage 2 Deployment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E62"/>
                </a:solidFill>
              </a:defRPr>
            </a:pPr>
            <a:r>
              <a:t>ROS 2 Humble Compliance (Stage 2 Ready)</a:t>
            </a:r>
          </a:p>
          <a:p>
            <a:pPr>
              <a:spcBef>
                <a:spcPts val="600"/>
              </a:spcBef>
              <a:defRPr sz="1000">
                <a:solidFill>
                  <a:srgbClr val="212529"/>
                </a:solidFill>
              </a:defRPr>
            </a:pPr>
            <a:r>
              <a:t>The Python simulation models map 1:1 to a production ROS 2 package:</a:t>
            </a:r>
            <a:br/>
            <a:br/>
            <a:r>
              <a:t>Package: aeromesh_swarm (ROS 2 Humble / Iron)</a:t>
            </a:r>
            <a:br/>
            <a:br/>
            <a:r>
              <a:t>Standard Published Topics:</a:t>
            </a:r>
            <a:br/>
            <a:r>
              <a:t>• /aeromesh/uav_{id}/pose (geometry_msgs/PoseStamped)</a:t>
            </a:r>
            <a:br/>
            <a:r>
              <a:t>• /aeromesh/uav_{id}/battery_state (sensor_msgs/BatteryState)</a:t>
            </a:r>
            <a:br/>
            <a:r>
              <a:t>• /aeromesh/network/topology (aeromesh_msgs/MeshTopology)</a:t>
            </a:r>
            <a:br/>
            <a:r>
              <a:t>• /aeromesh/network/link_quality (aeromesh_msgs/LinkQuality)</a:t>
            </a:r>
            <a:br/>
            <a:br/>
            <a:r>
              <a:t>Custom ROS 2 Services:</a:t>
            </a:r>
            <a:br/>
            <a:r>
              <a:t>• /aeromesh/task/allocate (aeromesh_srvs/AllocateTasks)</a:t>
            </a:r>
            <a:br/>
            <a:r>
              <a:t>• /aeromesh/mission/inject_poi (aeromesh_srvs/InjectEmergencyPoI)</a:t>
            </a:r>
            <a:br/>
            <a:r>
              <a:t>• /aeromesh/metrics/summary (aeromesh_srvs/GetMissionMetrics)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E62"/>
                </a:solidFill>
              </a:defRPr>
            </a:pPr>
            <a:r>
              <a:t>Hardware-in-the-Loop (HITL) Roadmap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FF6500"/>
                </a:solidFill>
              </a:rPr>
              <a:t>Phase 1: PX4 SITL &amp; Gazebo Garden: </a:t>
            </a:r>
            <a:r>
              <a:rPr sz="1000">
                <a:solidFill>
                  <a:srgbClr val="212529"/>
                </a:solidFill>
              </a:rPr>
              <a:t>Bridge CBBA &amp; MeshRouter nodes with PX4 Autopilot over MAVROS in 3D physics environment with realistic wind turbulence.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FF6500"/>
                </a:solidFill>
              </a:rPr>
              <a:t>Phase 2: Hardware Companion Computers: </a:t>
            </a:r>
            <a:r>
              <a:rPr sz="1000">
                <a:solidFill>
                  <a:srgbClr val="212529"/>
                </a:solidFill>
              </a:rPr>
              <a:t>Deploy decentralized nodes onto Raspberry Pi 4 / NVIDIA Jetson Orin Nano companion computers running ROS 2 DDS.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FF6500"/>
                </a:solidFill>
              </a:rPr>
              <a:t>Phase 3: Wireless Mesh Hardware: </a:t>
            </a:r>
            <a:r>
              <a:rPr sz="1000">
                <a:solidFill>
                  <a:srgbClr val="212529"/>
                </a:solidFill>
              </a:rPr>
              <a:t>Interface with physical 802.11s ad-hoc mesh transceivers or long-range ESP-NOW / LoRa backup links.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FF6500"/>
                </a:solidFill>
              </a:rPr>
              <a:t>Phase 4: Field Validation: </a:t>
            </a:r>
            <a:r>
              <a:rPr sz="1000">
                <a:solidFill>
                  <a:srgbClr val="212529"/>
                </a:solidFill>
              </a:rPr>
              <a:t>Execute autonomous multi-UAV disaster field trials with automated survivor tagging via YOLOv8-nano.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E62"/>
                </a:solidFill>
              </a:defRPr>
            </a:pPr>
            <a:r>
              <a:t>5-Minute Quickstart &amp; Verification Workflow for Evaluators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1: Clone &amp; Install (1 min)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pip install -r requirements.txt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Zero heavy proprietary dependencies. Compatible with Linux, macOS, and Windows 10/11.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2: Run Test Suite (30 sec)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python -m pytest tests/ -v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Executes all 19 unit &amp; integration tests covering RF channel, CBBA, routing, and scenarios. (100% Pass)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3: Run Benchmarks (3 min)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python run_simulation.py --benchmark-all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Executes all 4 disaster scenarios in 10x real-time and prints full performance comparison matrix.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01752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12724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4: Verify ROS 2 Bridge (10 sec)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python ros2_interface/ros2_bridge.py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Validates ROS 2 Humble node interface compliance and topic/service mappings for Stage 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5: Inspect Visual Demo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scenario_3_demo.gif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Review high-resolution self-healing animation demonstrating autonomous 2.1s relay recovery.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3035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773168"/>
            <a:ext cx="49377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E62"/>
                </a:solidFill>
              </a:defRPr>
            </a:pPr>
            <a:r>
              <a:t>Step 6: Review Technical Proposal</a:t>
            </a:r>
          </a:p>
          <a:p>
            <a:pPr>
              <a:spcBef>
                <a:spcPts val="300"/>
              </a:spcBef>
              <a:defRPr sz="1000" b="1">
                <a:solidFill>
                  <a:srgbClr val="FF6500"/>
                </a:solidFill>
              </a:defRPr>
            </a:pPr>
            <a:r>
              <a:t>$ docs/TECHNICAL_PROPOSAL.md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Read complete 6-8 page academic proposal with complete mathematical formulations.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6500"/>
                </a:solidFill>
              </a:defRPr>
            </a:pPr>
            <a:r>
              <a:t>AEROMESH-SWARM | STAGE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0F4F8"/>
                </a:solidFill>
              </a:defRPr>
            </a:pPr>
            <a:r>
              <a:t>AeroMesh-Swarm: Stage 1 Verification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292608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FF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500"/>
                </a:solidFill>
              </a:defRPr>
            </a:pPr>
            <a:r>
              <a:t>100%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Mission PoI Coverage</a:t>
            </a:r>
          </a:p>
          <a:p>
            <a:pPr algn="ctr">
              <a:spcBef>
                <a:spcPts val="800"/>
              </a:spcBef>
              <a:defRPr sz="950">
                <a:solidFill>
                  <a:srgbClr val="F0F4F8"/>
                </a:solidFill>
              </a:defRPr>
            </a:pPr>
            <a:r>
              <a:t>All 42 PoIs surveyed across 4 disaster scenarios with zero unvisited targets.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371600"/>
            <a:ext cx="2560320" cy="292608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55448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A8E8"/>
                </a:solidFill>
              </a:defRPr>
            </a:pPr>
            <a:r>
              <a:t>100%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Packet Delivery Ratio</a:t>
            </a:r>
          </a:p>
          <a:p>
            <a:pPr algn="ctr">
              <a:spcBef>
                <a:spcPts val="800"/>
              </a:spcBef>
              <a:defRPr sz="950">
                <a:solidFill>
                  <a:srgbClr val="F0F4F8"/>
                </a:solidFill>
              </a:defRPr>
            </a:pPr>
            <a:r>
              <a:t>Zero telemetry loss over dynamic ETX multi-hop mesh routes (up to 3 hops).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371600"/>
            <a:ext cx="2560320" cy="292608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55448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8A745"/>
                </a:solidFill>
              </a:defRPr>
            </a:pPr>
            <a:r>
              <a:t>&lt; 2.1s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Self-Healing Recovery</a:t>
            </a:r>
          </a:p>
          <a:p>
            <a:pPr algn="ctr">
              <a:spcBef>
                <a:spcPts val="800"/>
              </a:spcBef>
              <a:defRPr sz="950">
                <a:solidFill>
                  <a:srgbClr val="F0F4F8"/>
                </a:solidFill>
              </a:defRPr>
            </a:pPr>
            <a:r>
              <a:t>Autonomous relay failure detection &amp; role promotion restoring network bridge.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371600"/>
            <a:ext cx="2560320" cy="292608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55448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C107"/>
                </a:solidFill>
              </a:defRPr>
            </a:pPr>
            <a:r>
              <a:t>100%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Swarm Survival Rate</a:t>
            </a:r>
          </a:p>
          <a:p>
            <a:pPr algn="ctr">
              <a:spcBef>
                <a:spcPts val="800"/>
              </a:spcBef>
              <a:defRPr sz="950">
                <a:solidFill>
                  <a:srgbClr val="F0F4F8"/>
                </a:solidFill>
              </a:defRPr>
            </a:pPr>
            <a:r>
              <a:t>Dynamic RTB boundaries guarantee zero UAV crashes from battery depletion.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42640"/>
          </a:solidFill>
          <a:ln w="12700">
            <a:solidFill>
              <a:srgbClr val="1E3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101800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Thank You! — Ready for Stage 1 Evaluation &amp; Stage 2 Hardware Transition</a:t>
            </a:r>
          </a:p>
          <a:p>
            <a:pPr>
              <a:spcBef>
                <a:spcPts val="600"/>
              </a:spcBef>
              <a:defRPr sz="1100">
                <a:solidFill>
                  <a:srgbClr val="00A8E8"/>
                </a:solidFill>
              </a:defRPr>
            </a:pPr>
            <a:r>
              <a:t>Author: Naga Surya Dinesh (Solo Developer)  |  Email: nagasuryadinesh@gmail.com  |  Affiliation: Autonomous Robotics &amp; Swarm Lab</a:t>
            </a:r>
            <a:br/>
            <a:r>
              <a:t>Repository: https://github.com/nsd-surya-dinesh/aeromesh-swarm-disaster-response</a:t>
            </a:r>
            <a:br/>
            <a:r>
              <a:t>Submission Target: pushpak_gc2026@aero.iitb.ac.in  |  Pushpak Grand Challenge 2026, Techfest IIT Bombay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